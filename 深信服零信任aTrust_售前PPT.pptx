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53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Microsoft YaHei"/>
              </a:defRPr>
            </a:pPr>
            <a:r>
              <a:t>深信服零信任 aTrust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AAC0E0"/>
                </a:solidFill>
                <a:latin typeface="Microsoft YaHei"/>
              </a:defRPr>
            </a:pPr>
            <a:r>
              <a:t>Sangfor Zero Trust Access — 售前工程师知识体系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Microsoft YaHei"/>
              </a:defRPr>
            </a:pPr>
            <a:r>
              <a:t>完整 10 模块 · 从厂商速览到 30 秒话术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D5E8"/>
                </a:solidFill>
                <a:latin typeface="Microsoft YaHei"/>
              </a:defRPr>
            </a:pPr>
            <a:r>
              <a:t>覆盖：产品定位 | 技术架构 | 竞品矩阵 | FAQ | 方案模板 | 行业场景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AACC"/>
                </a:solidFill>
                <a:latin typeface="Microsoft YaHei"/>
              </a:defRPr>
            </a:pPr>
            <a:r>
              <a:t>众云网 · 售前技术部 | 2026年06月08日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AACC"/>
                </a:solidFill>
                <a:latin typeface="Microsoft YaHei"/>
              </a:defRPr>
            </a:pPr>
            <a:r>
              <a:t>品类：安全 | 零信任 | 安全接入服务边缘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厂商速览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470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深信服公司背景、市场地位、核心产品线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470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一句话定位、客户画像、痛点场景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2316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414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07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SPA + 动态信任 + 安全联动闭环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4414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产品线关系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807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在众云网代理体系中的位置与销售策略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核心功能 TOP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67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按客户价值排序的功能与话术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8328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FAQ 高频问答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767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通用必问 + 安全品类定制问题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361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竞品矩阵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727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vs 奇安信·山石·天融信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34340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361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行业场景映射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727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金融·制造·政府·教育·互联网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30352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3218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方案模板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5687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标准框架 + 配置清单 + 报价策略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303520"/>
            <a:ext cx="640080" cy="6400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53218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478A"/>
                </a:solidFill>
                <a:latin typeface="Microsoft YaHei"/>
              </a:defRPr>
            </a:pPr>
            <a:r>
              <a:t>30 秒话术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5687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Microsoft YaHei"/>
              </a:defRPr>
            </a:pPr>
            <a:r>
              <a:t>电梯演讲 + 费曼大白话讲解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1：厂商速览 — 深信服科技股份有限公司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公司背景 · 市场地位 · 核心产品线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厂商全称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深信服科技股份有限公司 (Sangfor Technologies)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成立时间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2000 年 | 总部：深圳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上市状态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深交所创业板 300454（2018年上市）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员工规模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约 9,000+ 人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Gartner / IDC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Gartner 多领域魔力象限提名；IDC 中国安全内容管理、VPN 市场第一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国内地位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中国网络安全 Top 3；VPN/上网行为管理市场份额第一；零信任第一梯队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官网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www.sangfor.com.cn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核心产品线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AF防火墙 · AC上网行为管理 · aTrust零信任 · HCI超融合 · 桌面云 · EDR · SIP态势感知 · XDR · MSS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108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面对客户，用 2-3 句话概括厂商实力："深信服是国内网络安全前三的上市公司，20+年历史，VPN/上网行为管理市场份额第一，零信任产品 aTrust 基于自研技术，国内第一梯队。"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2：产品定位 — 一句话定位与客户画像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目标客户 · 核心痛点 · 适用场景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478A"/>
                </a:solidFill>
                <a:latin typeface="Microsoft YaHei"/>
              </a:defRPr>
            </a:pPr>
            <a:r>
              <a:t>一句话定位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1A478A"/>
                </a:solidFill>
                <a:latin typeface="Microsoft YaHei"/>
              </a:defRPr>
            </a:pPr>
            <a:r>
              <a:t>深信服 aTrust 是一个面向政企客户的零信任安全接入与访问控制平台，</a:t>
            </a:r>
          </a:p>
          <a:p>
            <a:pPr>
              <a:spcAft>
                <a:spcPts val="400"/>
              </a:spcAft>
              <a:defRPr sz="1200" b="0" i="0">
                <a:solidFill>
                  <a:srgbClr val="1A1A1A"/>
                </a:solidFill>
                <a:latin typeface="Microsoft YaHei"/>
              </a:defRPr>
            </a:pPr>
            <a:r>
              <a:t>帮助客户解决远程办公安全风险高、权限管控粒度过粗、横向移动攻击等痛点。</a:t>
            </a:r>
          </a:p>
          <a:p>
            <a:pPr>
              <a:spcAft>
                <a:spcPts val="400"/>
              </a:spcAft>
              <a:defRPr sz="1100" b="1" i="0">
                <a:solidFill>
                  <a:srgbClr val="E86A17"/>
                </a:solidFill>
                <a:latin typeface="Microsoft YaHei"/>
              </a:defRPr>
            </a:pPr>
            <a:r>
              <a:t>差异化优势：与深信服自有安全生态（防火墙+SIP+XDR+EDR）深度联动，"端-管-云"一体化零信任闭环。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478A"/>
                </a:solidFill>
                <a:latin typeface="Microsoft YaHei"/>
              </a:defRPr>
            </a:pPr>
            <a:r>
              <a:t>目标客户画像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0040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行业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政府 · 金融 · 运营商 · 教育 · 医疗 · 大企业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500 终端以上的中大型组织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决策者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CIO/CISO/信息化处长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技术决策者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网络安全负责人/信息中心主任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IT 基础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建议配合 AF 防火墙或 AD/统一身份认证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478A"/>
                </a:solidFill>
                <a:latin typeface="Microsoft YaHei"/>
              </a:defRPr>
            </a:pPr>
            <a:r>
              <a:t>核心痛点（客户视角）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46120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2644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246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远程办公安全不可控 — VPN接入终端安全状态不可见，一台"带毒"电脑就是炸弹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6758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权限管控粒度过粗 — VPN一接入就"全网通"，无法按应用/数据级别细粒度授权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69080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873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横向移动风险 — 攻破一个弱口令终端即可内网"横着走"，缺乏持续校验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2：产品定位 — 适用场景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三大核心场景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4389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64592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替代传统 VPN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478A"/>
                </a:solidFill>
                <a:latin typeface="Microsoft YaHei"/>
              </a:defRPr>
            </a:pPr>
            <a:r>
              <a:t>远程/移动办公安全接入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Microsoft YaHei"/>
              </a:defRPr>
            </a:pPr>
            <a:r>
              <a:t>员工随时随地安全访问内部业务系统</a:t>
            </a:r>
            <a:br/>
            <a:r>
              <a:t>• SPA 单包授权端口隐藏</a:t>
            </a:r>
            <a:br/>
            <a:r>
              <a:t>• 持续信任评估</a:t>
            </a:r>
            <a:br/>
            <a:r>
              <a:t>• MFA 多因素认证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3108960" cy="4114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客户价值：替代传统 VPN，技术代差升级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474720" cy="4389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554480"/>
            <a:ext cx="164592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581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隐藏业务端口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478A"/>
                </a:solidFill>
                <a:latin typeface="Microsoft YaHei"/>
              </a:defRPr>
            </a:pPr>
            <a:r>
              <a:t>护网/重保期间收缩攻击面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Microsoft YaHei"/>
              </a:defRPr>
            </a:pPr>
            <a:r>
              <a:t>所有访问必须经过身份+设备+行为的持续校验</a:t>
            </a:r>
            <a:br/>
            <a:r>
              <a:t>• 业务系统对外完全隐身</a:t>
            </a:r>
            <a:br/>
            <a:r>
              <a:t>• 攻击面趋近于零</a:t>
            </a:r>
            <a:br/>
            <a:r>
              <a:t>• 护网期间零被攻击成功案例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4754880"/>
            <a:ext cx="3108960" cy="4114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客户价值：护网加分利器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371600"/>
            <a:ext cx="3474720" cy="4389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9" y="1554480"/>
            <a:ext cx="164592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581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最小化权限原则落地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478A"/>
                </a:solidFill>
                <a:latin typeface="Microsoft YaHei"/>
              </a:defRPr>
            </a:pPr>
            <a:r>
              <a:t>内网业务系统分级管控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Microsoft YaHei"/>
              </a:defRPr>
            </a:pPr>
            <a:r>
              <a:t>财务系统、研发代码库等核心资产单独授权</a:t>
            </a:r>
            <a:br/>
            <a:r>
              <a:t>• 应用级权限管控</a:t>
            </a:r>
            <a:br/>
            <a:r>
              <a:t>• 外包人员最小权限</a:t>
            </a:r>
            <a:br/>
            <a:r>
              <a:t>• 全流量审计满足等保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9" y="4754880"/>
            <a:ext cx="3108960" cy="4114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客户价值：合规+安全双收益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108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场景驱动销售：先问"您目前远程办公怎么做的？护网压力大吗？"再引出零信任方案，而不是上来就讲产品功能。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3：技术架构 — 深信服 aTrust 零信任架构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SPA 单包授权 · 动态信任评估 · 安全联动闭环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291840" cy="2743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客户端层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aTrust App</a:t>
            </a:r>
            <a:br/>
            <a:r>
              <a:t>(Win/Mac/</a:t>
            </a:r>
            <a:br/>
            <a:r>
              <a:t>iOS/Android)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27432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零信任控制中心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身份认证/授权引擎</a:t>
            </a:r>
            <a:br/>
            <a:r>
              <a:t>动态信任评估引擎</a:t>
            </a:r>
            <a:br/>
            <a:r>
              <a:t>SPA 单包授权</a:t>
            </a:r>
            <a:br/>
            <a:r>
              <a:t>管理控制台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291840" cy="2743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业务代理层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SDP 网关</a:t>
            </a:r>
            <a:br/>
            <a:r>
              <a:t>应用代理/隧道</a:t>
            </a:r>
            <a:br/>
            <a:r>
              <a:t>负载均衡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A478A"/>
                </a:solidFill>
                <a:latin typeface="Microsoft YaHei"/>
              </a:defRPr>
            </a:pPr>
            <a:r>
              <a:t>◄──►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A478A"/>
                </a:solidFill>
                <a:latin typeface="Microsoft YaHei"/>
              </a:defRPr>
            </a:pPr>
            <a:r>
              <a:t>◄──►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480560"/>
            <a:ext cx="5790895" cy="7315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498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478A"/>
                </a:solidFill>
                <a:latin typeface="Microsoft YaHei"/>
              </a:defRPr>
            </a:pPr>
            <a:r>
              <a:t>🔗 联动生态：深信服 AF 防火墙 · SIP 态势感知 · EDR 终端安全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终端评分 → 实时同步零信任引擎 | aTrust 发现威胁 → AF 自动封堵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技术指标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33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部署形态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纯软件/虚拟化 (VMware/HCI/KVM)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580644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833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最小规格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4C8G+100G，生产 8C16G+200G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80644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833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高可用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HA 双机热备 / 多活集群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580644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5833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性能指标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10Gbps+ 吞吐 · 200万+并发 · 时延&lt;20ms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108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技术亮点要讲 3 个：SPA 端口隐藏（与 VPN 代差）、动态信任评估（持续校验）、安全联动闭环（生态壁垒）。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4：产品线关系 — 在众云网代理体系中的位置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互补 · 替代 · 升级 — 销售定位策略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代理线位置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737360"/>
            <a:ext cx="365760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810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Microsoft YaHei"/>
              </a:defRPr>
            </a:pPr>
            <a:r>
              <a:t>众云网代理线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网络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651760"/>
            <a:ext cx="1828800" cy="4572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IT基础设施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51760"/>
            <a:ext cx="1828800" cy="4572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566160"/>
            <a:ext cx="1463040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639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深信服AF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566160"/>
            <a:ext cx="1463040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639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深信服SIP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566160"/>
            <a:ext cx="1463040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639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深信服AC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4389120"/>
            <a:ext cx="3474720" cy="5486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44622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🌟 深信服 aTrust 零信任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关系矩阵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173736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已有产品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关系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销售策略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AF 防火墙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互补 ★★★★★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联动销售，最高利润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SIP 态势感知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互补 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护网黄金搭档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EDR 终端安全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互补 ★★★★★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终端+接入闭环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传统 VPN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替代 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技术代差升级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SSL VPN 存量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升级 ★★★★★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最直接升级路径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48640" y="539496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68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如果客户已有深信服 AF/EDR，aTrust 是"生态扩展"而非"另起炉灶"。若用别家安全产品，aTrust 也能独立运行。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5：核心功能 TOP 5（1/2）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按客户价值排序 — 功能 · 痛点 · 场景 · 话术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SPA 单包授权 + 业务隐身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783080"/>
            <a:ext cx="2743200" cy="27432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8013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0392B"/>
                </a:solidFill>
                <a:latin typeface="Microsoft YaHei"/>
              </a:defRPr>
            </a:pPr>
            <a:r>
              <a:t>痛点：业务端口暴露→被扫描攻击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场景：OA/ERP 系统发布到公网时，先敲门验证身份再建立连接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6858000" cy="1371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86A17"/>
                </a:solidFill>
                <a:latin typeface="Microsoft YaHei"/>
              </a:defRPr>
            </a:pPr>
            <a:r>
              <a:t>话术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45920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  <a:latin typeface="Microsoft YaHei"/>
              </a:defRPr>
            </a:pPr>
            <a:r>
              <a:t>"您现在的 VPN 端口暴露在公网上，每天被各种扫描器盯着打。SPA 机制让业务端口完全隐身，只有合法用户才能敲门建立连接。"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动态信任评估与持续校验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474720"/>
            <a:ext cx="2743200" cy="27432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49300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0392B"/>
                </a:solidFill>
                <a:latin typeface="Microsoft YaHei"/>
              </a:defRPr>
            </a:pPr>
            <a:r>
              <a:t>痛点：一次登录≠一直可信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场景：终端中木马→风险评分下降→自动限制只能访问低敏感业务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6858000" cy="1371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86A17"/>
                </a:solidFill>
                <a:latin typeface="Microsoft YaHei"/>
              </a:defRPr>
            </a:pPr>
            <a:r>
              <a:t>话术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337560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  <a:latin typeface="Microsoft YaHei"/>
              </a:defRPr>
            </a:pPr>
            <a:r>
              <a:t>"传统 VPN 登录一次就永远信任。我们会对每个访问请求持续校验——终端安全、登录地点、行为，任一维度出问题自动收紧权限。"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最小化应用级权限管控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166360"/>
            <a:ext cx="2743200" cy="27432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1846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0392B"/>
                </a:solidFill>
                <a:latin typeface="Microsoft YaHei"/>
              </a:defRPr>
            </a:pPr>
            <a:r>
              <a:t>痛点：VPN 接入后"全网通"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场景：外包人员只访问项目管理系统，无法访问财务/代码库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4754880"/>
            <a:ext cx="6858000" cy="1371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86A17"/>
                </a:solidFill>
                <a:latin typeface="Microsoft YaHei"/>
              </a:defRPr>
            </a:pPr>
            <a:r>
              <a:t>话术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029200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  <a:latin typeface="Microsoft YaHei"/>
              </a:defRPr>
            </a:pPr>
            <a:r>
              <a:t>"外包人员只需访问项目管理工具。零信任精确到应用级别，他们只看得见、用得到该用的系统。"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5：核心功能 TOP 5（2/2）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按客户价值排序 — 功能 · 痛点 · 场景 · 话术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多因素认证 MFA 集成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828800"/>
            <a:ext cx="2743200" cy="27432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8470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0392B"/>
                </a:solidFill>
                <a:latin typeface="Microsoft YaHei"/>
              </a:defRPr>
            </a:pPr>
            <a:r>
              <a:t>痛点：弱口令/撞库→安全事件第一入口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场景：与钉钉/企业微信/飞书扫码登录打通，或短信/硬件Token二次验证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6858000" cy="16459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86A17"/>
                </a:solidFill>
                <a:latin typeface="Microsoft YaHei"/>
              </a:defRPr>
            </a:pPr>
            <a:r>
              <a:t>话术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91640"/>
            <a:ext cx="6492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  <a:latin typeface="Microsoft YaHei"/>
              </a:defRPr>
            </a:pPr>
            <a:r>
              <a:t>"可以和你们现有的钉钉、企业微信无缝打通，登录时直接扫码认证，既安全又方便，员工也不用再记一套密码。"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全流量审计与溯源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114800"/>
            <a:ext cx="2743200" cy="27432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1330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0392B"/>
                </a:solidFill>
                <a:latin typeface="Microsoft YaHei"/>
              </a:defRPr>
            </a:pPr>
            <a:r>
              <a:t>痛点：出事后无法追溯"谁在什么设备上做了什么"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80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场景：护网/等保合规需要完整的访问日志，安全事件发生后分钟级定位到人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657600"/>
            <a:ext cx="6858000" cy="16459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86A17"/>
                </a:solidFill>
                <a:latin typeface="Microsoft YaHei"/>
              </a:defRPr>
            </a:pPr>
            <a:r>
              <a:t>话术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977640"/>
            <a:ext cx="6492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  <a:latin typeface="Microsoft YaHei"/>
              </a:defRPr>
            </a:pPr>
            <a:r>
              <a:t>"等保和护网对访问审计有明确要求。aTrust 提供全流量、全操作审计日志，事后溯源精确到某人某设备对某系统的每个操作。"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478A"/>
                </a:solidFill>
                <a:latin typeface="Microsoft YaHei"/>
              </a:defRPr>
            </a:pPr>
            <a:r>
              <a:t>话术公式（SCQA）："很多客户的 [场景] 经常遇到 [痛点]。我们的 [功能] 通过 [技术手段] 来解决，能帮您实现 [量化收益]。我们之前帮 [案例] 也做过类似的..."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6：FAQ 高频问答（1/2）— 通用必问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客户最常问的 5 个通用问题及标准应答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和奇安信/山石比有什么优势？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190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"深信服最大优势是安全生态联动——零信任+防火墙+态势感知+EDR 闭环联动，单一零信任厂商做不到。"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457200" cy="3200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部署复杂吗？对业务有什么影响？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"纯软件部署半天搞定，不需要改网络架构。SPA 敲门时延 &lt;20ms，用户无感知。"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457200" cy="3200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价格怎么样？License 怎么算？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307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"按并发用户数授权，基础/标准/高级三档。基础版覆盖 SPA+应用代理+基础认证。建议根据并发数选型。"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457200" cy="3200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后续运维需要几个人？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36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"日常一个人兼职即可。配合深信服防火墙使用无需额外技能。首次部署+培训一周内可独立操作。"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457200" cy="3200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22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故障怎么办？响应时效？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7424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"全国50+办事处，7×24热线。标准维保5×8次日现场，金牌7×24四小时到场。我们本地团队第一时间响应。"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108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FAQ 核心原则："先接住再转弯"——"这个问题问得很好"→认同关切→再给出专业回应。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6：FAQ 高频问答（2/2）— 安全品类定制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安全品类客户最关心的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对现有网络的性能影响？有旁路模式吗？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190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"SDP 网关支持反向代理模式，不串接网络。单网关 10Gbps 吞吐，时延增加 &lt;5ms，用户无感知。"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45720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等保/护网/合规覆盖哪些条款？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"覆盖等保2.0三级——访问控制、身份鉴别、安全审计、通信保密。通过公安部销售许可证、国密局商用密码认证。"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45720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误报率高不高？能自定义规则吗？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307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"动态信任评估基于多维度打分，不存在传统误报。策略完全自定义——比如设置"非工作时间境外登录自动拒绝"。"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45720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终端 Agent 对业务服务器的性能影响？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36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"客户端内存 ~50MB，CPU&lt;1%。服务器端不需装 Agent，SDP 网关反向代理。整体资源开销极低。"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45720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22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Microsoft YaHei"/>
              </a:defRPr>
            </a:pPr>
            <a:r>
              <a:t>Q10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Microsoft YaHei"/>
              </a:defRPr>
            </a:pPr>
            <a:r>
              <a:t>被攻击了应急响应流程？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7424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Microsoft YaHei"/>
              </a:defRPr>
            </a:pPr>
            <a:r>
              <a:t>"三层防御：SPA 默认防御（找不到目标）→ 动态信任评估自动降权/阻断 → AF 防火墙联动自动封堵。MSS 安全托管 7×24 监测，本地团队 2 小时到场。"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7：竞品矩阵 — 深信服 aTrust vs 奇安信·山石·天融信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全面横向对比 + 竞争话术策略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深信服 aTrust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奇安信 TZ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山石网科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天融信 ZTNA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零信任架构完整度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安全生态联动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部署复杂度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终端安全集成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性能/吞吐量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信创适配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价格竞争力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本地化服务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竞争话术策略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86A17"/>
                </a:solidFill>
                <a:latin typeface="Microsoft YaHei"/>
              </a:defRPr>
            </a:pPr>
            <a:r>
              <a:t>vs 奇安信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强调生态闭环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486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  <a:latin typeface="Microsoft YaHei"/>
              </a:defRPr>
            </a:pPr>
            <a:r>
              <a:t>深信服防火墙+SIP+EDR+aTrust 一体化，奇安信单品强但生态联动不如我们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86A17"/>
                </a:solidFill>
                <a:latin typeface="Microsoft YaHei"/>
              </a:defRPr>
            </a:pPr>
            <a:r>
              <a:t>vs 山石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品牌+渠道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  <a:latin typeface="Microsoft YaHei"/>
              </a:defRPr>
            </a:pPr>
            <a:r>
              <a:t>深信服品牌认知度高、渠道覆盖广，众云网本地响应速度快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86A17"/>
                </a:solidFill>
                <a:latin typeface="Microsoft YaHei"/>
              </a:defRPr>
            </a:pPr>
            <a:r>
              <a:t>vs 天融信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217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1A"/>
                </a:solidFill>
                <a:latin typeface="Microsoft YaHei"/>
              </a:defRPr>
            </a:pPr>
            <a:r>
              <a:t>场景完整度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217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  <a:latin typeface="Microsoft YaHei"/>
              </a:defRPr>
            </a:pPr>
            <a:r>
              <a:t>天融信政府强，但零信任需全家桶配合，深信服安全生态更完整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08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核心原则：永远不要直接贬低竞品。说"我们在 X 方面做得更好"，不说"他们在 X 方面很差"。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8：行业场景映射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金融 · 制造 · 政府 · 教育 · 互联网 — 切换行业语言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320040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典型痛点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aTrust 价值点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行业术语转换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🏦 金融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远程办公合规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外包管控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数据防泄漏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权限精细到应用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全流量审计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MFA 对接已有令牌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"合规"→银保监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"安全"→外包准入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"权限"→最小必要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🏭 制造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OT/IT融合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多地工厂运维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供应商安全接入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SPA隐藏OT端口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MFA保障远程运维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最小权限访问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"安全"→产线不停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"网络"→工控网安全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🏛️ 政府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等保合规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护网行动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信创国产化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SPA收缩攻击面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审计满足等保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麒麟/统信/鲲鹏适配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"云"→政务云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"安全"→等保三级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"接入"→护网得分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🎓 教育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多校区接入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高并发选课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预算有限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虚拟化部署省成本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无Agent全校用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多校区统一管控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"接入"→智慧校园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"安全"→护网保障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🌐 互联网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多云统一接入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DevOps/代码安全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弹性伸缩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API对接CI/CD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K8s弹性扩缩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代码仓库精细化权限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"安全"→DevSecOps</a:t>
                      </a:r>
                    </a:p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"接入"→零信任流水线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solidFill>
            <a:srgbClr val="FDF2E9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108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B4513"/>
                </a:solidFill>
                <a:latin typeface="Microsoft YaHei"/>
              </a:defRPr>
            </a:pPr>
            <a:r>
              <a:t>💡 对谁说就切换成谁的语言：对金融讲"合规"，对制造讲"连续性"，对政府讲"护网得分"，对互联网讲"敏捷"。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9：方案模板（1/2）— 标准售前方案框架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五段式方案结构 + 实施路径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478A"/>
                </a:solidFill>
                <a:latin typeface="Microsoft YaHei"/>
              </a:defRPr>
            </a:pPr>
            <a:r>
              <a:t>一、项目背景与需求分析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• 客户当前 IT 现状（VPN品牌/用户数/业务系统）</a:t>
            </a:r>
            <a:br/>
            <a:r>
              <a:t>• 痛点：VPN端口暴露 | 权限粒度过粗 | 等保审计要求</a:t>
            </a:r>
            <a:br/>
            <a:r>
              <a:t>• 建设目标："身份可信、设备可控、访问可管、行为可审"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478A"/>
                </a:solidFill>
                <a:latin typeface="Microsoft YaHei"/>
              </a:defRPr>
            </a:pPr>
            <a:r>
              <a:t>二、方案设计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• 设计原则：最小权限 | 持续验证 | 默认拒绝 | 生态联动</a:t>
            </a:r>
            <a:br/>
            <a:r>
              <a:t>• 整体架构：控制中心(管理面) + SDP网关(数据面) + aTrust客户端</a:t>
            </a:r>
            <a:br/>
            <a:r>
              <a:t>• 部署位置：DMZ 区反向代理模式，不改变网络拓扑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478A"/>
                </a:solidFill>
                <a:latin typeface="Microsoft YaHei"/>
              </a:defRPr>
            </a:pPr>
            <a:r>
              <a:t>三、产品介绍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• 3 页核心 PPT：SPA 端口隐藏 → 动态信任评估 → 安全联动闭环</a:t>
            </a:r>
            <a:br/>
            <a:r>
              <a:t>• 配置清单（见下一页）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478A"/>
                </a:solidFill>
                <a:latin typeface="Microsoft YaHei"/>
              </a:defRPr>
            </a:pPr>
            <a:r>
              <a:t>四、实施计划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• 第一阶段(1-2周)：部署控制中心+SDP网关，对接AD</a:t>
            </a:r>
            <a:br/>
            <a:r>
              <a:t>• 第二阶段(2-4周)：分批发布业务系统，灰度切换</a:t>
            </a:r>
            <a:br/>
            <a:r>
              <a:t>• 第三阶段(4-6周)：全面推广，VPN并行1-2月后下线</a:t>
            </a:r>
            <a:br/>
            <a:r>
              <a:t>• 风险应对：首次部署保留VPN做回退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478A"/>
                </a:solidFill>
                <a:latin typeface="Microsoft YaHei"/>
              </a:defRPr>
            </a:pPr>
            <a:r>
              <a:t>五、售后服务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• 深信服标准维保：5×8远程+次日现场</a:t>
            </a:r>
            <a:br/>
            <a:r>
              <a:t>• 众云网本地服务：7×24电话+4小时到场可选</a:t>
            </a:r>
            <a:br/>
            <a:r>
              <a:t>• 培训：管理员2天+用户手册/视频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9：方案模板（2/2）— 配置清单与报价策略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典型配置 + 三档报价策略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20116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产品型号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aTrust 控制中心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虚拟化部署，管理认证/授权/审计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SDP 网关（标准版）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吞吐 5Gbps，支持 HA 双机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aTrust 并发授权（标准版）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含 SPA+动态信任+MFA，按并发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实施部署服务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首次部署 + 策略配置 + 培训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1套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金牌维保服务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7×24×4小时现场，含版本升级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1年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89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[价格需向深信服渠道经理获取最新报价]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478A"/>
                </a:solidFill>
                <a:latin typeface="Microsoft YaHei"/>
              </a:defRPr>
            </a:pPr>
            <a:r>
              <a:t>三档报价策略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4389120" cy="11887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1188720" cy="347472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8562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入门版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562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86A17"/>
                </a:solidFill>
                <a:latin typeface="Microsoft YaHei"/>
              </a:defRPr>
            </a:pPr>
            <a:r>
              <a:t>策略：打价格/做覆盖率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402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基础版授权 + 单网关</a:t>
            </a:r>
            <a:br/>
            <a:r>
              <a:t>面向 200 人以下中小企业</a:t>
            </a:r>
            <a:br/>
            <a:r>
              <a:t>压低单价先圈地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91840"/>
            <a:ext cx="4389120" cy="11887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3291840"/>
            <a:ext cx="1188720" cy="347472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3192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标准版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19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86A17"/>
                </a:solidFill>
                <a:latin typeface="Microsoft YaHei"/>
              </a:defRPr>
            </a:pPr>
            <a:r>
              <a:t>策略：主打款/利润来源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033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标准版 + 双网关 HA</a:t>
            </a:r>
            <a:br/>
            <a:r>
              <a:t>500-2000 并发用户</a:t>
            </a:r>
            <a:br/>
            <a:r>
              <a:t>项目毛利目标 30%+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754880"/>
            <a:ext cx="4389120" cy="11887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754880"/>
            <a:ext cx="1188720" cy="347472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782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旗舰版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782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86A17"/>
                </a:solidFill>
                <a:latin typeface="Microsoft YaHei"/>
              </a:defRPr>
            </a:pPr>
            <a:r>
              <a:t>策略：树标杆/高配客户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1663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Microsoft YaHei"/>
              </a:defRPr>
            </a:pPr>
            <a:r>
              <a:t>高级版 + AF/SIP/EDR 全家桶</a:t>
            </a:r>
            <a:br/>
            <a:r>
              <a:t>政府/金融标杆项目</a:t>
            </a:r>
            <a:br/>
            <a:r>
              <a:t>维保签 3 年锁定收入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10：30 秒话术 — 电梯演讲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30 秒打动客户 · 标准话术模板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478A"/>
                </a:solidFill>
                <a:latin typeface="Microsoft YaHei"/>
              </a:defRPr>
            </a:pPr>
            <a:r>
              <a:t>🏢 电梯演讲（30 秒版本）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1A1A1A"/>
                </a:solidFill>
                <a:latin typeface="Microsoft YaHei"/>
              </a:defRPr>
            </a:pPr>
            <a:r>
              <a:t>"x总，简单介绍一下深信服零信任 aTrust。</a:t>
            </a:r>
          </a:p>
          <a:p>
            <a:pPr>
              <a:spcAft>
                <a:spcPts val="400"/>
              </a:spcAft>
              <a:defRPr sz="1600" b="0" i="0">
                <a:solidFill>
                  <a:srgbClr val="1A1A1A"/>
                </a:solidFill>
                <a:latin typeface="Microsoft YaHei"/>
              </a:defRPr>
            </a:pPr>
            <a:r>
              <a:t>它是深信服推出的一款新一代安全接入平台，</a:t>
            </a:r>
          </a:p>
          <a:p>
            <a:pPr>
              <a:spcAft>
                <a:spcPts val="400"/>
              </a:spcAft>
              <a:defRPr sz="1600" b="0" i="0">
                <a:solidFill>
                  <a:srgbClr val="1A1A1A"/>
                </a:solidFill>
                <a:latin typeface="Microsoft YaHei"/>
              </a:defRPr>
            </a:pPr>
            <a:r>
              <a:t>专门解决远程办公安全和内网访问管控的问题。</a:t>
            </a:r>
          </a:p>
          <a:p>
            <a:pPr>
              <a:spcAft>
                <a:spcPts val="400"/>
              </a:spcAft>
              <a:defRPr sz="800" b="0" i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600" b="0" i="0">
                <a:solidFill>
                  <a:srgbClr val="1A1A1A"/>
                </a:solidFill>
                <a:latin typeface="Microsoft YaHei"/>
              </a:defRPr>
            </a:pPr>
            <a:r>
              <a:t>跟市面上其他零信任产品最大的不同是，</a:t>
            </a:r>
          </a:p>
          <a:p>
            <a:pPr>
              <a:spcAft>
                <a:spcPts val="400"/>
              </a:spcAft>
              <a:defRPr sz="1600" b="1" i="0">
                <a:solidFill>
                  <a:srgbClr val="E86A17"/>
                </a:solidFill>
                <a:latin typeface="Microsoft YaHei"/>
              </a:defRPr>
            </a:pPr>
            <a:r>
              <a:t>它可以和深信服的防火墙、态势感知、终端安全形成联动闭环——</a:t>
            </a:r>
          </a:p>
          <a:p>
            <a:pPr>
              <a:spcAft>
                <a:spcPts val="400"/>
              </a:spcAft>
              <a:defRPr sz="1600" b="1" i="0">
                <a:solidFill>
                  <a:srgbClr val="E86A17"/>
                </a:solidFill>
                <a:latin typeface="Microsoft YaHei"/>
              </a:defRPr>
            </a:pPr>
            <a:r>
              <a:t>终端发现威胁，零信任立刻收紧权限，整个链条自动运转。</a:t>
            </a:r>
          </a:p>
          <a:p>
            <a:pPr>
              <a:spcAft>
                <a:spcPts val="400"/>
              </a:spcAft>
              <a:defRPr sz="800" b="0" i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600" b="0" i="0">
                <a:solidFill>
                  <a:srgbClr val="1A1A1A"/>
                </a:solidFill>
                <a:latin typeface="Microsoft YaHei"/>
              </a:defRPr>
            </a:pPr>
            <a:r>
              <a:t>我们在某省政务云部署后，</a:t>
            </a:r>
          </a:p>
          <a:p>
            <a:pPr>
              <a:spcAft>
                <a:spcPts val="400"/>
              </a:spcAft>
              <a:defRPr sz="1600" b="1" i="0">
                <a:solidFill>
                  <a:srgbClr val="1A478A"/>
                </a:solidFill>
                <a:latin typeface="Microsoft YaHei"/>
              </a:defRPr>
            </a:pPr>
            <a:r>
              <a:t>护网期间零信任接入的业务系统实现了零被攻击成功。</a:t>
            </a:r>
          </a:p>
          <a:p>
            <a:pPr>
              <a:spcAft>
                <a:spcPts val="400"/>
              </a:spcAft>
              <a:defRPr sz="800" b="0" i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600" b="0" i="0">
                <a:solidFill>
                  <a:srgbClr val="1A1A1A"/>
                </a:solidFill>
                <a:latin typeface="Microsoft YaHei"/>
              </a:defRPr>
            </a:pPr>
            <a:r>
              <a:t>如果您感兴趣，我可以安排一个详细的技术交流。"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478A"/>
                </a:solidFill>
                <a:latin typeface="Microsoft YaHei"/>
              </a:defRPr>
            </a:pPr>
            <a:r>
              <a:t>话术结构拆解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60720"/>
            <a:ext cx="201168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Microsoft YaHei"/>
              </a:defRPr>
            </a:pPr>
            <a:r>
              <a:t>① 打招呼 + 产品名 + 品类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5760720"/>
            <a:ext cx="201168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Microsoft YaHei"/>
              </a:defRPr>
            </a:pPr>
            <a:r>
              <a:t>② 核心痛点一句话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5760720"/>
            <a:ext cx="201168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Microsoft YaHei"/>
              </a:defRPr>
            </a:pPr>
            <a:r>
              <a:t>③ 差异化优势（最关键）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5760720"/>
            <a:ext cx="201168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Microsoft YaHei"/>
              </a:defRPr>
            </a:pPr>
            <a:r>
              <a:t>④ 可量化案例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5760720"/>
            <a:ext cx="201168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Microsoft YaHei"/>
              </a:defRPr>
            </a:pPr>
            <a:r>
              <a:t>⑤ 留钩子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Microsoft YaHei"/>
              </a:defRPr>
            </a:pPr>
            <a:r>
              <a:t>模块 10：30 秒话术 — 费曼大白话讲解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D5E8"/>
                </a:solidFill>
                <a:latin typeface="Microsoft YaHei"/>
              </a:defRPr>
            </a:pPr>
            <a:r>
              <a:t>给非技术决策者讲清楚零信任是什么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858000" cy="50292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Microsoft YaHei"/>
              </a:defRPr>
            </a:pPr>
            <a:r>
              <a:t>想象一下，你的公司内部有一些房间，里面放着重要的文件——财务数据、客户资料、研发代码。</a:t>
            </a:r>
            <a:br/>
            <a:br/>
            <a:r>
              <a:t>以前的做法是，给每个员工发一把公司大门的钥匙（VPN），进门之后所有房间都能进。</a:t>
            </a:r>
            <a:br/>
            <a:r>
              <a:t>这有个问题：钥匙可能被偷，人进去了可能乱翻不该翻的房间。</a:t>
            </a:r>
            <a:br/>
            <a:br/>
            <a:r>
              <a:t>零信任的做法完全不一样：</a:t>
            </a:r>
            <a:br/>
            <a:br/>
            <a:r>
              <a:t>● 首先，你根本看不见公司大门在哪——大门是隐形的。</a:t>
            </a:r>
            <a:br/>
            <a:r>
              <a:t>  只有你掏出身份证、证明自己是谁、设备没问题，门才会短暂出现让你进。</a:t>
            </a:r>
            <a:br/>
            <a:br/>
            <a:r>
              <a:t>● 其次，进门之后，你只能进你该进的那几个房间。</a:t>
            </a:r>
            <a:br/>
            <a:r>
              <a:t>  财务进财务室，研发进代码库，其他房间对你完全不可见。</a:t>
            </a:r>
            <a:br/>
            <a:br/>
            <a:r>
              <a:t>● 最后，即使你已经进了房间，系统也在持续观察你：</a:t>
            </a:r>
            <a:br/>
            <a:r>
              <a:t>  你是不是在正常时间、正常地点、做着该做的事？一旦发现不对劲，马上把你请出去。</a:t>
            </a:r>
            <a:br/>
            <a:br/>
            <a:r>
              <a:t>一句话：传统 VPN 是"一次验证、永远信任"；零信任是"永不信任，持续验证"。</a:t>
            </a:r>
            <a:br/>
            <a:br/>
            <a:r>
              <a:t>就像你去机场——不是过了一次安检就随便逛，而是进每个登机口都要重新验证身份。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371600"/>
            <a:ext cx="3931920" cy="5029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YaHei"/>
              </a:defRPr>
            </a:pPr>
            <a:r>
              <a:t>核心类比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560320"/>
            <a:ext cx="3474720" cy="1005840"/>
          </a:xfrm>
          <a:prstGeom prst="rect">
            <a:avLst/>
          </a:prstGeom>
          <a:solidFill>
            <a:srgbClr val="153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606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AAAA"/>
                </a:solidFill>
                <a:latin typeface="Microsoft YaHei"/>
              </a:defRPr>
            </a:pPr>
            <a:r>
              <a:t>传统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公司大门钥匙</a:t>
            </a:r>
            <a:br/>
            <a:r>
              <a:t>一次开门，到处能进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840479"/>
            <a:ext cx="3474720" cy="1005840"/>
          </a:xfrm>
          <a:prstGeom prst="rect">
            <a:avLst/>
          </a:prstGeom>
          <a:solidFill>
            <a:srgbClr val="153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88619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AFFAA"/>
                </a:solidFill>
                <a:latin typeface="Microsoft YaHei"/>
              </a:defRPr>
            </a:pPr>
            <a:r>
              <a:t>零信任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2519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隐形大门</a:t>
            </a:r>
            <a:br/>
            <a:r>
              <a:t>每次进门都要验证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5120640"/>
            <a:ext cx="3474720" cy="1005840"/>
          </a:xfrm>
          <a:prstGeom prst="rect">
            <a:avLst/>
          </a:prstGeom>
          <a:solidFill>
            <a:srgbClr val="153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ACCFF"/>
                </a:solidFill>
                <a:latin typeface="Microsoft YaHei"/>
              </a:defRPr>
            </a:pPr>
            <a:r>
              <a:t>动态评估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532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持续观察</a:t>
            </a:r>
            <a:br/>
            <a:r>
              <a:t>不对劲就请出去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88888"/>
                </a:solidFill>
                <a:latin typeface="Microsoft YaHei"/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53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FFFFFF"/>
                </a:solidFill>
                <a:latin typeface="Microsoft YaHei"/>
              </a:defRPr>
            </a:pPr>
            <a:r>
              <a:t>深信服零信任 aTrust — 售前知识体系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AAC0E0"/>
                </a:solidFill>
                <a:latin typeface="Microsoft YaHei"/>
              </a:defRPr>
            </a:pPr>
            <a:r>
              <a:t>10 模块 · 从厂商速览到 30 秒话术 · 完整武器库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86A17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AAC0E0"/>
                </a:solidFill>
                <a:latin typeface="Microsoft YaHei"/>
              </a:defRPr>
            </a:pPr>
            <a:r>
              <a:t>知识模块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86A17"/>
                </a:solidFill>
                <a:latin typeface="Microsoft YaHei"/>
              </a:defRPr>
            </a:pPr>
            <a:r>
              <a:t>10Gbps+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AAC0E0"/>
                </a:solidFill>
                <a:latin typeface="Microsoft YaHei"/>
              </a:defRPr>
            </a:pPr>
            <a:r>
              <a:t>单网关吞吐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86A17"/>
                </a:solidFill>
                <a:latin typeface="Microsoft YaHei"/>
              </a:defRPr>
            </a:pPr>
            <a:r>
              <a:t>200万+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AAC0E0"/>
                </a:solidFill>
                <a:latin typeface="Microsoft YaHei"/>
              </a:defRPr>
            </a:pPr>
            <a:r>
              <a:t>并发连接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86A17"/>
                </a:solidFill>
                <a:latin typeface="Microsoft YaHei"/>
              </a:defRPr>
            </a:pPr>
            <a:r>
              <a:t>&lt;20ms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AAC0E0"/>
                </a:solidFill>
                <a:latin typeface="Microsoft YaHei"/>
              </a:defRPr>
            </a:pPr>
            <a:r>
              <a:t>SPA 敲门时延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86A17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AAC0E0"/>
                </a:solidFill>
                <a:latin typeface="Microsoft YaHei"/>
              </a:defRPr>
            </a:pPr>
            <a:r>
              <a:t>全国办事处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AACC"/>
                </a:solidFill>
                <a:latin typeface="Microsoft YaHei"/>
              </a:defRPr>
            </a:pPr>
            <a:r>
              <a:t>众云网 · 售前技术部 | 2026年06月08日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